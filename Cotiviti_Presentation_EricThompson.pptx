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f5b81d5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ef5b81d5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ef5b81d5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Here's our agenda for today's presentation. We'll cover the concept definition, key industry trends, opportunities and threats, strategic recommendations, and then walk through the live POC demo.</a:t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Clinical decision making is the core domain — historically physician-driven, now being transformed by AI. Pattern recognition is the computational engine underneath. Five key capabilities map directly onto Cotiviti's TPO framework.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key trends are converging right now: agentic AI is automating administrative workflows; real-time risk stratification is becoming standard in EHRs; anomaly detection is the future of payment integrity; and regulation is catching up fast. Organizations that build for explainability now will win.</a:t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major opportunities for Cotiviti: payment integrity automation, prior auth, predictive population health, and SHAP-driven explainability as a competitive differentiator. On the threat side: model drift, adversarial gaming by providers, regulatory uncertainty, and algorithmic bias risk.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strategic recommendations. First: agentic AI for payment integrity — biggest near-term ROI. Second: real-time risk stratification SaaS — expands the value proposition into care management. Third: federated learning consortium — creates a defensible competitive moat as the infrastructure layer for cross-payer intelligence.</a:t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POC is a four-page Streamlit application. It demonstrates five core capabilities: classification, prediction, SHAP explainability, SBAR generation, and anomaly signal detection. The model achieves an AUROC of 0.973 for logistic regression and 0.942 for gradient boosting on the held-out test set. Let me now switch to a screen share to walk through the live demo.</a:t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f5b81d5b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f5b81d5b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f5b81d5b7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1097280" y="987552"/>
            <a:ext cx="7589520" cy="530352"/>
          </a:xfrm>
          <a:prstGeom prst="roundRect">
            <a:avLst>
              <a:gd fmla="val 13793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1234440" y="10058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Concept Definition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3520440" y="10058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is clinical decision making + pattern recognition?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337560" y="1197864"/>
            <a:ext cx="91440" cy="914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457200" y="1764792"/>
            <a:ext cx="502920" cy="50292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097280" y="1746504"/>
            <a:ext cx="7589520" cy="530352"/>
          </a:xfrm>
          <a:prstGeom prst="roundRect">
            <a:avLst>
              <a:gd fmla="val 13793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1234440" y="17647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Relevant Trends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520440" y="17647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Agentic AI, real-time risk stratification, anomaly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337560" y="1956816"/>
            <a:ext cx="91440" cy="914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57200" y="2523744"/>
            <a:ext cx="502920" cy="50292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097280" y="2505456"/>
            <a:ext cx="7589520" cy="530352"/>
          </a:xfrm>
          <a:prstGeom prst="roundRect">
            <a:avLst>
              <a:gd fmla="val 13793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234440" y="25237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Opportunities &amp; Threats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520440" y="25237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Market landscape and risk factors for Cotiviti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337560" y="2715768"/>
            <a:ext cx="91440" cy="914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57200" y="3282696"/>
            <a:ext cx="502920" cy="50292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097280" y="3264408"/>
            <a:ext cx="7589520" cy="530352"/>
          </a:xfrm>
          <a:prstGeom prst="roundRect">
            <a:avLst>
              <a:gd fmla="val 13793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234440" y="3282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520440" y="32826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Three actionable investment proposals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337560" y="3474720"/>
            <a:ext cx="91440" cy="914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7200" y="4041648"/>
            <a:ext cx="502920" cy="50292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97280" y="4023360"/>
            <a:ext cx="7589520" cy="530352"/>
          </a:xfrm>
          <a:prstGeom prst="roundRect">
            <a:avLst>
              <a:gd fmla="val 13793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234440" y="4041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POC Demonstration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52044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Live: Clinical Risk Classifier + SHAP Explainability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337560" y="4233672"/>
            <a:ext cx="91440" cy="914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01 — Defining the Concept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6"/>
          <p:cNvCxnSpPr/>
          <p:nvPr/>
        </p:nvCxnSpPr>
        <p:spPr>
          <a:xfrm>
            <a:off x="457200" y="7772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6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Clinical Decision Making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57200" y="1261872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process by which clinicians, administrators, and payers interpret complex, heterogeneous data to select appropriate courses of action — now supercharged by ML, AI, and LLMs converging with EHR infrastructure.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Pattern Recognition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57200" y="2633472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Computational identification of clinically meaningful signals within high-dimensional data — the technical backbone of modern clinical AI.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663440" y="914400"/>
            <a:ext cx="4023360" cy="658368"/>
          </a:xfrm>
          <a:prstGeom prst="roundRect">
            <a:avLst>
              <a:gd fmla="val 13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754880" y="1014984"/>
            <a:ext cx="457200" cy="45720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754880" y="1014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303520" y="960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303520" y="125272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Risk flagging for escalation &amp;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663440" y="1719072"/>
            <a:ext cx="4023360" cy="658368"/>
          </a:xfrm>
          <a:prstGeom prst="roundRect">
            <a:avLst>
              <a:gd fmla="val 13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754880" y="1819656"/>
            <a:ext cx="457200" cy="45720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754880" y="1819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303520" y="17647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303520" y="20574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Patient-level outcome forecasting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663440" y="2523744"/>
            <a:ext cx="4023360" cy="658368"/>
          </a:xfrm>
          <a:prstGeom prst="roundRect">
            <a:avLst>
              <a:gd fmla="val 13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754880" y="2624328"/>
            <a:ext cx="457200" cy="45720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754880" y="2624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303520" y="25694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303520" y="28620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Phenotyping &amp; fraud pattern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663440" y="3328416"/>
            <a:ext cx="4023360" cy="658368"/>
          </a:xfrm>
          <a:prstGeom prst="roundRect">
            <a:avLst>
              <a:gd fmla="val 13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754880" y="3429000"/>
            <a:ext cx="457200" cy="45720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75488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303520" y="337413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Time-Series Anomaly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303520" y="36667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Vitals &amp; billing irregularity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663440" y="4133088"/>
            <a:ext cx="4023360" cy="658368"/>
          </a:xfrm>
          <a:prstGeom prst="roundRect">
            <a:avLst>
              <a:gd fmla="val 13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754880" y="4233672"/>
            <a:ext cx="457200" cy="45720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754880" y="4233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303520" y="41788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Agentic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303520" y="44714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Multi-step autonomous clinical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fmla="val 15385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These capabilities address Cotiviti's core TPO domain: Treatment · Payment · 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02 — Relevant Trends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457200" y="7772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457200" y="914400"/>
            <a:ext cx="3931920" cy="1783080"/>
          </a:xfrm>
          <a:prstGeom prst="roundRect">
            <a:avLst>
              <a:gd fmla="val 6154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291840" y="1024128"/>
            <a:ext cx="1005840" cy="594360"/>
          </a:xfrm>
          <a:prstGeom prst="roundRect">
            <a:avLst>
              <a:gd fmla="val 12308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291840" y="102412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40-60%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291840" y="137160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Admin cost reduction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21792" y="10241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Agentic &amp; Generative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21792" y="14173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LLMs (GPT-4, Claude, Med-PaLM 2) are enabling multi-step autonomous reasoning for prior auth review, denial management, and clinical documentation — reducing administrative cost by 40-60%.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663440" y="914400"/>
            <a:ext cx="3931920" cy="1783080"/>
          </a:xfrm>
          <a:prstGeom prst="roundRect">
            <a:avLst>
              <a:gd fmla="val 6154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498080" y="1024128"/>
            <a:ext cx="1005840" cy="594360"/>
          </a:xfrm>
          <a:prstGeom prst="roundRect">
            <a:avLst>
              <a:gd fmla="val 12308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498080" y="102412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498080" y="137160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Explainability standard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828032" y="10241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Real-Time Risk Stratification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828032" y="14173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ML risk models (sepsis, readmission, escalation) are now embedded in Epic, Cerner, and Oracle Health. SHAP explainability is becoming a standard requirement for clinical adoption and regulatory compliance.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2880360"/>
            <a:ext cx="3931920" cy="1783080"/>
          </a:xfrm>
          <a:prstGeom prst="roundRect">
            <a:avLst>
              <a:gd fmla="val 6154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291840" y="2990088"/>
            <a:ext cx="1005840" cy="594360"/>
          </a:xfrm>
          <a:prstGeom prst="roundRect">
            <a:avLst>
              <a:gd fmla="val 12308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291840" y="29900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$11.1B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291840" y="333756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Fraud detection market 2032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21792" y="29900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Payment Integrity via Anomaly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21792" y="338328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Unsupervised + semi-supervised anomaly detection flags upcoding, unbundling, and duplicate claims at scale. The global healthcare fraud detection market is projected to reach $11.1B by 2032.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663440" y="2880360"/>
            <a:ext cx="3931920" cy="1783080"/>
          </a:xfrm>
          <a:prstGeom prst="roundRect">
            <a:avLst>
              <a:gd fmla="val 6154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498080" y="2990088"/>
            <a:ext cx="1005840" cy="594360"/>
          </a:xfrm>
          <a:prstGeom prst="roundRect">
            <a:avLst>
              <a:gd fmla="val 12308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498080" y="29900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FDA+ONC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498080" y="333756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Active regulatory frameworks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828032" y="29900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Regulatory &amp; Trust Landscape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828032" y="338328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FDA AI/ML action plan and ONC interoperability rules are raising the bar. Organizations with audit trails and explainable AI built-in from inception will maintain competitive advantage as scrutiny intensifies.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03 — Opportunities &amp; Threats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457200" y="7772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/>
          <p:nvPr/>
        </p:nvSpPr>
        <p:spPr>
          <a:xfrm>
            <a:off x="457200" y="914400"/>
            <a:ext cx="3931920" cy="384048"/>
          </a:xfrm>
          <a:prstGeom prst="roundRect">
            <a:avLst>
              <a:gd fmla="val 19048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9144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✦  OPPORTUNITIES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663440" y="914400"/>
            <a:ext cx="4023360" cy="384048"/>
          </a:xfrm>
          <a:prstGeom prst="roundRect">
            <a:avLst>
              <a:gd fmla="val 19048" name="adj"/>
            </a:avLst>
          </a:pr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  THREATS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417320"/>
            <a:ext cx="3931920" cy="758952"/>
          </a:xfrm>
          <a:prstGeom prst="roundRect">
            <a:avLst>
              <a:gd fmla="val 12048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66928" y="1572768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66928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05840" y="149047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Payment Integrity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05840" y="176479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AI anomaly detection reduces false-positive audit rates while catching sophisticated fraud schemes.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2286000"/>
            <a:ext cx="3931920" cy="758952"/>
          </a:xfrm>
          <a:prstGeom prst="roundRect">
            <a:avLst>
              <a:gd fmla="val 12048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66928" y="2441448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66928" y="2441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05840" y="235915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Autonomous Prior Authorization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005840" y="26334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Agentic LLM pipelines review clinical docs, apply payer criteria, generate determinations — slashing turnaround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154680"/>
            <a:ext cx="3931920" cy="758952"/>
          </a:xfrm>
          <a:prstGeom prst="roundRect">
            <a:avLst>
              <a:gd fmla="val 12048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66928" y="3310128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66928" y="33101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005840" y="32278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Predictive Population Health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05840" y="35021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Clustering + classification identify high-risk members proactively before costly interventions occur.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023360"/>
            <a:ext cx="3931920" cy="758952"/>
          </a:xfrm>
          <a:prstGeom prst="roundRect">
            <a:avLst>
              <a:gd fmla="val 12048" name="adj"/>
            </a:avLst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66928" y="4178808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66928" y="4178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05840" y="409651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Explainability as Differentiator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005840" y="43708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SHAP-integrated outputs enable auditor trust, regulatory compliance, and physician engagement.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63440" y="1417320"/>
            <a:ext cx="4023360" cy="758952"/>
          </a:xfrm>
          <a:prstGeom prst="roundRect">
            <a:avLst>
              <a:gd fmla="val 12048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212080" y="149047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Model Drift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212080" y="176479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Clinical AI degrades as care patterns and coding practices shift. Continuous monitoring is operationally expensive.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663440" y="2286000"/>
            <a:ext cx="4023360" cy="758952"/>
          </a:xfrm>
          <a:prstGeom prst="roundRect">
            <a:avLst>
              <a:gd fmla="val 12048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773168" y="2441448"/>
            <a:ext cx="347472" cy="34747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773168" y="2441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212080" y="235915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Adversarial Gaming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212080" y="263347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Providers adapt to evade algorithmic detection, requiring continuous model retraining.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663440" y="3154680"/>
            <a:ext cx="4023360" cy="758952"/>
          </a:xfrm>
          <a:prstGeom prst="roundRect">
            <a:avLst>
              <a:gd fmla="val 12048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773168" y="3310128"/>
            <a:ext cx="347472" cy="34747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773168" y="33101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212080" y="322783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Regulatory Uncertainty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212080" y="350215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Pending FDA guidance and state-level transparency laws create compliance complexity.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663440" y="4023360"/>
            <a:ext cx="4023360" cy="758952"/>
          </a:xfrm>
          <a:prstGeom prst="roundRect">
            <a:avLst>
              <a:gd fmla="val 12048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773168" y="4178808"/>
            <a:ext cx="347472" cy="34747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773168" y="4178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212080" y="409651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Equity &amp; Bias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212080" y="437083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Models trained on biased claims data may disadvantage certain populations, creating legal exposure.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04 — Strategic Recommendations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457200" y="7772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9"/>
          <p:cNvSpPr/>
          <p:nvPr/>
        </p:nvSpPr>
        <p:spPr>
          <a:xfrm>
            <a:off x="457200" y="914400"/>
            <a:ext cx="8229600" cy="1234440"/>
          </a:xfrm>
          <a:prstGeom prst="roundRect">
            <a:avLst>
              <a:gd fmla="val 8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94360" y="1280160"/>
            <a:ext cx="594360" cy="594360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94360" y="12801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178040" y="987552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7178040" y="98755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ROI in 12 months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325880" y="1005840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Agentic AI for Payment Integrity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325880" y="1344168"/>
            <a:ext cx="6766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Build an agentic AI layer orchestrating LLM reasoning over clinical docs, coding guidelines, and payer contracts. Integrate a GBM classifier for anomaly scoring, chain-of-thought for determination rationale, and SHAP for auditor review. Pilot on high-volume DRG categories with known coding variability (e.g., sepsis, cardiac procedures).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2258568"/>
            <a:ext cx="8229600" cy="1234440"/>
          </a:xfrm>
          <a:prstGeom prst="roundRect">
            <a:avLst>
              <a:gd fmla="val 8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94360" y="2624328"/>
            <a:ext cx="594360" cy="59436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94360" y="262432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178040" y="233172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178040" y="23317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revenue stream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325880" y="235000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Real-Time Clinical Risk Stratification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325880" y="2688336"/>
            <a:ext cx="6766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 a FHIR-native risk stratification SaaS offering that ingests real-time EHR data streams to predict readmission, ICU escalation, and treatment non-adherence. Expands Cotiviti's value proposition upstream from payment into care management with new revenue streams.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3602736"/>
            <a:ext cx="8229600" cy="1234440"/>
          </a:xfrm>
          <a:prstGeom prst="roundRect">
            <a:avLst>
              <a:gd fmla="val 8889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94360" y="3968496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94360" y="396849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178040" y="3675888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7178040" y="367588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moat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325880" y="3694176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Federated Learning for Multi-Payer Anomaly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325880" y="4032504"/>
            <a:ext cx="6766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Launch a federated learning consortium where anomaly detection models train across payer datasets without centralizing sensitive claims data. Establishes Cotiviti as the infrastructure layer for cross-industry payment integrity intelligence — a defensible competitive moat.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05 — POC: Clinical Risk Classifier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457200" y="7772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0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What the Demo Shows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1325880"/>
            <a:ext cx="3931920" cy="475488"/>
          </a:xfrm>
          <a:prstGeom prst="roundRect">
            <a:avLst>
              <a:gd fmla="val 15385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566928" y="1417320"/>
            <a:ext cx="292608" cy="292608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566928" y="1417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60120" y="1362456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60120" y="1572768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Binary high-risk flag for escalation / payment audit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1892808"/>
            <a:ext cx="3931920" cy="475488"/>
          </a:xfrm>
          <a:prstGeom prst="roundRect">
            <a:avLst>
              <a:gd fmla="val 15385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66928" y="1984248"/>
            <a:ext cx="292608" cy="292608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66928" y="19842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97270" y="1929384"/>
            <a:ext cx="333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60120" y="2139696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Patient-level risk score (0-100%) from 13 clinical+claims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459736"/>
            <a:ext cx="3931920" cy="475488"/>
          </a:xfrm>
          <a:prstGeom prst="roundRect">
            <a:avLst>
              <a:gd fmla="val 15385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66928" y="2551176"/>
            <a:ext cx="292608" cy="292608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66928" y="25511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60120" y="2496312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SHAP Explainability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60120" y="2706624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Waterfall charts showing why each patient was flagged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3026664"/>
            <a:ext cx="3931920" cy="475488"/>
          </a:xfrm>
          <a:prstGeom prst="roundRect">
            <a:avLst>
              <a:gd fmla="val 15385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66928" y="3118104"/>
            <a:ext cx="292608" cy="292608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66928" y="31181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960120" y="3063240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SBAR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960120" y="3273552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Structured clinical handoff auto-generated from model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3593592"/>
            <a:ext cx="3931920" cy="475488"/>
          </a:xfrm>
          <a:prstGeom prst="roundRect">
            <a:avLst>
              <a:gd fmla="val 15385" name="adj"/>
            </a:avLst>
          </a:prstGeom>
          <a:solidFill>
            <a:srgbClr val="F0F4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66928" y="3685032"/>
            <a:ext cx="292608" cy="292608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566928" y="36850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960120" y="3630168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Anomaly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960120" y="3840480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Claim amount + DRG weight flagging for payment integrity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0940" y="806863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Tech Stack &amp; Performance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617190" y="1126980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575175" y="1156600"/>
            <a:ext cx="292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Streamlit — 4-page interactive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0"/>
          <p:cNvCxnSpPr/>
          <p:nvPr/>
        </p:nvCxnSpPr>
        <p:spPr>
          <a:xfrm>
            <a:off x="4617190" y="1479395"/>
            <a:ext cx="40233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0"/>
          <p:cNvSpPr/>
          <p:nvPr/>
        </p:nvSpPr>
        <p:spPr>
          <a:xfrm>
            <a:off x="4570940" y="1563635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464175" y="1541988"/>
            <a:ext cx="345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Logistic Regression + Gradient Boosting (scikit-learn)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0"/>
          <p:cNvCxnSpPr/>
          <p:nvPr/>
        </p:nvCxnSpPr>
        <p:spPr>
          <a:xfrm>
            <a:off x="4663440" y="1860475"/>
            <a:ext cx="40233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0"/>
          <p:cNvSpPr/>
          <p:nvPr/>
        </p:nvSpPr>
        <p:spPr>
          <a:xfrm>
            <a:off x="4571003" y="1980803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Explainability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575175" y="1964675"/>
            <a:ext cx="345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SHAP TreeExplainer — global + patient-level 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0"/>
          <p:cNvCxnSpPr/>
          <p:nvPr/>
        </p:nvCxnSpPr>
        <p:spPr>
          <a:xfrm>
            <a:off x="4709690" y="2324780"/>
            <a:ext cx="40233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0"/>
          <p:cNvSpPr/>
          <p:nvPr/>
        </p:nvSpPr>
        <p:spPr>
          <a:xfrm>
            <a:off x="4663440" y="32461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394176" y="2425350"/>
            <a:ext cx="315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1,200 synthetic patients, 13 features (not for clinical use)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663440" y="3090672"/>
            <a:ext cx="1874520" cy="960120"/>
          </a:xfrm>
          <a:prstGeom prst="roundRect">
            <a:avLst>
              <a:gd fmla="val 11429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663440" y="3090672"/>
            <a:ext cx="1874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0.973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LR AUROC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812280" y="3090672"/>
            <a:ext cx="1874520" cy="960120"/>
          </a:xfrm>
          <a:prstGeom prst="roundRect">
            <a:avLst>
              <a:gd fmla="val 11429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812280" y="3090672"/>
            <a:ext cx="1874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0.942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GBM AUROC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fmla="val 15385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7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0FF7F"/>
                </a:solidFill>
                <a:latin typeface="Courier New"/>
                <a:ea typeface="Courier New"/>
                <a:cs typeface="Courier New"/>
                <a:sym typeface="Courier New"/>
              </a:rPr>
              <a:t>▶   streamlit run app.py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258" name="Google Shape;2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